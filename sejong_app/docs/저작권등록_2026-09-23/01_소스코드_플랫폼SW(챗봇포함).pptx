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8585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E2761"/>
                </a:solidFill>
                <a:latin typeface="Calibri"/>
              </a:rPr>
              <a:t>개인 맞춤형 혈당관리 플랫폼 소프트웨어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808690"/>
                </a:solidFill>
                <a:latin typeface="Calibri"/>
              </a:rPr>
              <a:t>컴퓨터프로그램저작물 등록 첨부자료 — 소스코드 (발췌)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1691640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Calibri"/>
              </a:rPr>
              <a:t>프로그램의 명칭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325880"/>
            <a:ext cx="9402775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개인 맞춤형 혈당관리 플랫폼 소프트웨어 (Sejong_APP)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7340"/>
            <a:ext cx="1691640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Calibri"/>
              </a:rPr>
              <a:t>주요 기능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577340"/>
            <a:ext cx="940277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연속혈당측정(CGM) 기기 연동 및 혈당 자료 수집 · 혈당 지표(TIR/TAR/TBR/CV/GMI) 산출과 도표 표시 · 식사·운동 기록과 혈당 연관 분석 · RAG 기반 AI 상담 챗봇 · 회원 인증 및 개인 의료정보 관리 · PWA 설치형 모바일 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88819"/>
            <a:ext cx="1691640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Calibri"/>
              </a:rPr>
              <a:t>개발 언어 및 환경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988819"/>
            <a:ext cx="9402775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Java 17 (Spring Framework / 전자정부표준프레임워크) · JSP · JavaScript · MyBatis SQL(MySQL) · HTML5/CSS3 · Apache Tomcat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40279"/>
            <a:ext cx="1691640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Calibri"/>
              </a:rPr>
              <a:t>전체 소스 분량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240279"/>
            <a:ext cx="9402775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약 33,800줄 (서드파티 라이브러리 및 KISA 제공 암호모듈 제외)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91739"/>
            <a:ext cx="1691640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1E2761"/>
                </a:solidFill>
                <a:latin typeface="Calibri"/>
              </a:rPr>
              <a:t>본 문서의 범위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491739"/>
            <a:ext cx="9402775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60"/>
              </a:lnSpc>
            </a:pPr>
            <a:r>
              <a:rPr sz="1050" b="0">
                <a:solidFill>
                  <a:srgbClr val="1A1A1A"/>
                </a:solidFill>
                <a:latin typeface="Calibri"/>
              </a:rPr>
              <a:t>플랫폼 전체 소스(AI 상담 챗봇 모듈 포함) 중 주요 기능 7개 부분 발췌.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71216"/>
            <a:ext cx="5455767" cy="3108960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62656"/>
            <a:ext cx="5272887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① 로그인 세션 검사·만료 처리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src/main/java/egovframework/sejong/util/SessionCheckInterceptor.java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39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/** 로그인 전(비인증) 접근이 허용되어야 하는 엔드포인트 목록. 로그인/회원가입/약관/자동로그인 흐름 전체.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private static final Set&lt;String&gt; PUBLIC_URIS = new HashSet&lt;&gt;(Arrays.asList(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"/index.do",        // 진입점(세션 유무에 따라 login/main 으로 분기)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"/loginPage.do",    // 로그인 화면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"/sendSensApi.do",  // 인증문자 발송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"/loginCheck.do",   // 인증번호 확인(세션 생성)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"/autoLogin.do",    // 자동로그인(세션 생성)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"/registerUser.do", // 회원가입(세션 생성)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"/updateUser.do",   // 가입 흐름 중 회원정보 갱신(세션 생성)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"/User.do",         // 가입 흐름 중 전화번호 존재 확인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"/testUser.do",     // 테스트/간편 로그인(세션 생성)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"/testUser2.do",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"/testUser3.do",    // 카카오 이메일 로그인(세션 생성)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"/callback.do",     // 구글 OAuth 콜백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"/getSignList.do",  // 로그인 화면 약관 조회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"/alldelete.do",    // 로그인 화면 회원탈퇴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"/sampleAjax.do"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     (... 중략 ...)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// 공개 URL 은 세션 검사 없이 통과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(PUBLIC_URIS.contains(path))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return true;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2871216"/>
            <a:ext cx="5455767" cy="3108960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4447" y="2962656"/>
            <a:ext cx="5272887" cy="2926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① 로그인 세션 검사·만료 처리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src/main/java/egovframework/sejong/util/SessionCheckInterceptor.java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HttpSession session = request.getSession(false);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Object user = (session == null) ? null : session.getAttribute("user");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(user != null)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return true; // 로그인 상태 → 통과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// 세션 만료/미로그인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(isAjax(request))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response.setStatus(HttpServletResponse.SC_UNAUTHORIZED); // 401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response.setContentType("application/json;charset=UTF-8");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response.getWriter().write(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       "{\"IsSucceed\":false,\"sessionExpired\":true,"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       + "\"Message\":\"세션이 만료되었습니다. 다시 로그인해 주세요.\"}");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response.getWriter().flush();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 else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response.sendRedirect(ctx + "/loginPage.do");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89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90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return false;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91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9149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690"/>
                </a:solidFill>
                <a:latin typeface="Calibri"/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98142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E2761"/>
                </a:solidFill>
                <a:latin typeface="Calibri"/>
              </a:rPr>
              <a:t>개인 맞춤형 혈당관리 플랫폼 소프트웨어 — 소스코드 (이어서)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5455767" cy="50383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52144"/>
            <a:ext cx="5272887" cy="4855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② 연속혈당(CGM) 자료 수집 — 외부 기기 연동 및 토큰 자동 갱신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src/main/java/egovframework/sejong/blood/web/BloodController.java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339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@RequestMapping(value = "/getBloodData.do", method = RequestMethod.GET)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340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@ResponseBody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341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public ResponseObject getBloodData(HttpSession session,@RequestParam String start, @RequestParam String end, @RequestParam String accessToken 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342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           , @RequestParam String goTokenUrl)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     (... 중략 ...)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369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[2026-07-11] 서버측 자동 갱신: access token 만료(401/403)면 refresh_token 으로 재발급 후 1회 재시도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(sejong-web 방식 이식 — 클라이언트 refresh 루프/재로그인 없이 투명하게 갱신)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if (responseCode == 401 || responseCode == 403)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String refTok = bloodService.refreshToken(user.getUserUuid());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String newAcc = (refTok != null &amp;&amp; !refTok.isEmpty()) ? refreshAndSaveToken(user.getUserUuid(), refTok) : null;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(newAcc == null) { json.IsSucceed = false; json.Data = "REAUTH"; return json; }  // refresh 토큰도 만료 → 재연동 필요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connection = (HttpURLConnection) new URL(tokenUrl + "?" + query).openConnection();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connection.setConnectTimeout(5000); connection.setReadTimeout(8000);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connection.setRequestMethod("GET");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connection.setRequestProperty("Authorization", "Bearer " + newAcc);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379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responseCode = connection.getResponseCode();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System.out.println("Response Code(refresh): " + responseCode);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InputStream cgmIn = (responseCode &gt;= 200 &amp;&amp; responseCode &lt; 300) ? connection.getInputStream() : connection.getErrorStream();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BufferedReader in = new BufferedReader(new InputStreamReader(cgmIn));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StringBuilder response = new StringBuilder();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String inputLine;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while ((inputLine = in.readLine()) != null)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response.append(inputLine);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389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in.close();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390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if (responseCode &lt; 200 || responseCode &gt;= 300) { json.IsSucceed = false; return json; }  // 갱신 후에도 실패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391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System.out.println("Blood Data Response: " + response.toString());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392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String jsonResponse = response.toString();</a:t>
            </a:r>
          </a:p>
        </p:txBody>
      </p:sp>
      <p:sp>
        <p:nvSpPr>
          <p:cNvPr id="5" name="Rectangle 4"/>
          <p:cNvSpPr/>
          <p:nvPr/>
        </p:nvSpPr>
        <p:spPr>
          <a:xfrm>
            <a:off x="6233007" y="1060704"/>
            <a:ext cx="5455767" cy="50383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24447" y="1152144"/>
            <a:ext cx="5272887" cy="4855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③ 혈당 통계 산출 — 고·저혈당 발생 시간대 상위 3구간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src/main/resources/egovframework/sqlmap/mapper/Blood_SQL.xml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98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WITH RECURSIVE hours AS (         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99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SELECT 0 AS h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UNION ALL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SELECT h + 1 FROM hours WHERE h &lt; 23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),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win AS (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SELECT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CONCAT(LPAD(h,2,'0'), ':00~', LPAD(h+1,2,'0'), ':00') AS win,  -- 예: 08:00~09:00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h AS sort,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SUM(CASE WHEN t.UPT_VALUE &gt; 0 AND t.UPT_VALUE &lt; 70  AND HOUR(t.CGM_DTM) = h THEN 1 ELSE 0 END) AS hypo_cnt,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SUM(CASE WHEN                     t.UPT_VALUE &gt; 180 AND HOUR(t.CGM_DTM) = h THEN 1 ELSE 0 END) AS hyper_cnt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109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FROM hours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LEFT JOIN T_BLDINF_TRAN t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ON  t.USER_UUID = #{userId}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AND t.CGM_DTM &gt;= CONCAT(#{start}, ' 00:00:00')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AND t.CGM_DTM &lt;  DATE_ADD(#{end}, INTERVAL 1 DAY)    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AND t.UPT_VALUE &gt; 0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AND HOUR(t.CGM_DTM) = h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GROUP BY h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)    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SELECT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119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IFNULL((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120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SELECT GROUP_CONCAT(win ORDER BY sort ASC SEPARATOR ' , ')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121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FROM (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122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SELECT win, sort, hypo_cnt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123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FROM win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124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WHERE hypo_cnt &gt;= 1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125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ORDER BY hypo_cnt DESC, sort ASC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126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LIMIT 3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127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) s1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④ 혈당 변화 화살표 — 직전 측정값 대비 연속 각도 표시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src/main/webapp/WEB-INF/jsp/main/FAHR_00.jsp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886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①「화살표 방향 수정」(↗ 인데 옆 숫자는 -2 였다) ②「직관적으로 · 사용자한테 설명해야 하는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887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변수는 배제」 두 지적을 함께 반영한 결과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690"/>
                </a:solidFill>
                <a:latin typeface="Calibri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98142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E2761"/>
                </a:solidFill>
                <a:latin typeface="Calibri"/>
              </a:rPr>
              <a:t>개인 맞춤형 혈당관리 플랫폼 소프트웨어 — 소스코드 (이어서)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5455767" cy="51526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52144"/>
            <a:ext cx="5272887" cy="49697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④ 혈당 변화 화살표 — 직전 측정값 대비 연속 각도 표시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src/main/webapp/WEB-INF/jsp/main/FAHR_00.jsp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888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· 근거는 **바로 옆 두 수치의 차이(point)** 하나뿐. 분당 변화율(mg/dL/분)·30분 추세처럼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889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화면에 없는 값은 쓰지 않는다. **보고 있는 숫자가 곧 화살표**라 설명이 필요 없다.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· 오르면 위(↗·↑) · 내리면 아래(↘·↓) · 그대로면 수평(→). 색은 숫자와 같은 _dirColor.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· 기울기는 단계 없이 이어진다 : 0=수평 · ±ARROW_FULL 이상=수직. 이 상수 하나로 조절.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※하단 '현재 혈당 변화' 상태·설명문은 **설명서의 「지난 30분」 기준 그대로**(applyTrend30).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const arrowEl = document.getElementById('bloodArrow');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if (arrowEl)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const ARROW_FULL = 10;                      // 직전 5분에 ±10 mg/dL 이면 수직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let _r = _hasBoth ? (point / ARROW_FULL) : 0;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(_r &gt; 1) _r = 1; else if (_r &lt; -1) _r = -1;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const _deg = -(_r * 90);                    // 0=수평(→) · -90=위(↑) · +90=아래(↓)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899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arrowEl.textContent = _hasBoth ? '→' : '=';  // 계산 불가는 '=' (수평 화살표는 '안정적'으로 읽힌다)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900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arrowEl.style.display = 'inline-block';      // transform 이 먹으려면 필요(기본 inline 이면 무시된다)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901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arrowEl.style.transition = 'transform .35s ease';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902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arrowEl.style.transform = 'rotate(' + _deg.toFixed(1) + 'deg)';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903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arrowEl.style.color = _hasBoth ? _dirColor : '#6c757d';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904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arrowEl.title = _hasBoth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905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? (point &gt; 0 ? '5분 전보다 ' + point + ' 높아졌습니다'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906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: point &lt; 0 ? '5분 전보다 ' + Math.abs(point) + ' 낮아졌습니다'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⑤ 무활동 1시간 자동 로그아웃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src/main/webapp/WEB-INF/tiles/main/header.jsp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(function(){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49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IDLE_MIN = 60;                       // 무활동 허용 시간(분) — web.xml session-timeout 과 같게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LIMIT = IDLE_MIN * 60 * 1000;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timer = null, last = 0, done = false;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function ctx(){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try { return CommonUtil.getContextPath(); } catch(e){ return '';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function bye(){</a:t>
            </a:r>
          </a:p>
        </p:txBody>
      </p:sp>
      <p:sp>
        <p:nvSpPr>
          <p:cNvPr id="5" name="Rectangle 4"/>
          <p:cNvSpPr/>
          <p:nvPr/>
        </p:nvSpPr>
        <p:spPr>
          <a:xfrm>
            <a:off x="6233007" y="1060704"/>
            <a:ext cx="5455767" cy="51526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24447" y="1152144"/>
            <a:ext cx="5272887" cy="49697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⑤ 무활동 1시간 자동 로그아웃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src/main/webapp/WEB-INF/tiles/main/header.jsp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(done) return; done = true;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/* 자동로그인을 꺼야 로그아웃이 유효하다 — 안 끄면 로그인 화면에서 곧바로 다시 들어온다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59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(login/main.jsp 의 logout() 주석과 같은 이유). 앱이 아니면 조용히 넘어간다.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try { callAndroid("f102", { phone: (window._userPhone || ''), autoYn:false, saveYn:true }); } catch(e){}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alert(IDLE_MIN + '분 동안 사용하지 않아 로그아웃되었습니다.\n다시 로그인해 주세요.');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var go = function(){ location.href = ctx() + '/loginPage.do'; };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try { CommonUtil.callAjax(ctx() + '/logout.do', 'POST', '', go); setTimeout(go, 1500); }  /* 응답이 없어도 나간다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catch(e){ go();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function reset(){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(done) return;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var now = +new Date();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69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(now - last &lt; 30000) return;        // 30초 안에 또 들어온 움직임은 흘린다(마우스·스크롤이 초당 수십 번 온다)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last = now;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(timer) clearTimeout(timer);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timer = setTimeout(bye, LIMIT);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/* 사람이 화면을 만졌다고 볼 수 있는 것들. capture 로 잡아 화면 어디서 눌러도 걸린다.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['click','keydown','touchstart','mousedown','mousemove','wheel','scroll','input'].forEach(function(ev){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document.addEventListener(ev, reset, true);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78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});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⑥ 식사등록 음식 검색 — 터치 기기 대응 목록 닫기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src/main/webapp/WEB-INF/jsp/main/food/foodMain.jsp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686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function outsideClose(e){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687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(e.target === inputName) return;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688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(listbox.contains(e.target)) return;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689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hideList();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document.addEventListener('pointerdown', outsideClose, true);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document.addEventListener('touchstart',  outsideClose, true);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690"/>
                </a:solidFill>
                <a:latin typeface="Calibri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02336"/>
            <a:ext cx="98142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>
                <a:solidFill>
                  <a:srgbClr val="1E2761"/>
                </a:solidFill>
                <a:latin typeface="Calibri"/>
              </a:rPr>
              <a:t>개인 맞춤형 혈당관리 플랫폼 소프트웨어 — 소스코드 (이어서)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60704"/>
            <a:ext cx="5455767" cy="51526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52144"/>
            <a:ext cx="5272887" cy="49697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⑥ 식사등록 음식 검색 — 터치 기기 대응 목록 닫기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src/main/webapp/WEB-INF/jsp/main/food/foodMain.jsp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document.addEventListener('mousedown',   outsideClose, true);   // 마우스 쓰는 PC 화면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/* 화면을 굴리면 닫는다 — 목록이 칸에 붙어 있어 굴리면 자리가 어긋난다(휴대폰에서 흔한 동작)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/* 굴리면 닫는다 — **연 직후 0.8초 안의 스크롤은 무시**(키보드가 올라오며 생기는 스크롤)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/* ★[2026-08-21] **목록 자체를 굴리는 스크롤은 닫지 않는다** — capture 라 목록 안 스크롤에도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이 핸들러가 깨어나, 검색 결과를 굴리려는 순간 목록이 닫혔다(「검색 후 스크롤이 안 됩니다」).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페이지(다른 곳) 스크롤은 종전대로 닫는다 — 목록이 칸에서 떨어져 보이는 것을 막는 원래 목적. */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699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window.addEventListener('scroll', function(e){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700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var t = e.target;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701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(t &amp;&amp; t.nodeType === 1 &amp;&amp; (t === listbox || listbox.contains(t))) return;   // 목록 안 스크롤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702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if (Date.now() - openedAt &lt; 800) return;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703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hideList();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704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}, true);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705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document.addEventListener('keydown', (e)=&gt;{ if (e.key==='Escape') hideList(); });</a:t>
            </a:r>
          </a:p>
          <a:p>
            <a:pPr>
              <a:lnSpc>
                <a:spcPts val="1200"/>
              </a:lnSpc>
              <a:spcBef>
                <a:spcPts val="70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⑦ RAG 기반 AI 상담 챗봇 — 질의 접수·검색결과 증강 및 생성형 AI 호출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src/main/java/egovframework/sejong/blood/web/BloodController.java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988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@RequestMapping(value = "/blood/chatAsk.do", method = RequestMethod.POST)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989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@ResponseBody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public ResponseObject chatAsk(HttpSession session, @RequestBody HashMap&lt;String, Object&gt; params)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ResponseObject json = new ResponseObject();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String q = params != null &amp;&amp; params.get("q") != null ? params.get("q").toString().trim() : "";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(q.isEmpty())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json.IsSucceed = false;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json.Message = "질문이 비어 있습니다.";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return json;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}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999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// 프롬프트 인젝션/과금 폭증 방지를 위한 길이 제한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1000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(q.length() &gt; 500) q = q.substring(0, 500);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1001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1002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if (geminiKey == null || geminiKey.isEmpty() || geminiKey.startsWith("YOUR_")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33007" y="1060704"/>
            <a:ext cx="5455767" cy="5152644"/>
          </a:xfrm>
          <a:prstGeom prst="rect">
            <a:avLst/>
          </a:prstGeom>
          <a:solidFill>
            <a:srgbClr val="F4F5F8"/>
          </a:solidFill>
          <a:ln w="9525">
            <a:solidFill>
              <a:srgbClr val="D6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24447" y="1152144"/>
            <a:ext cx="5272887" cy="49697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⑦ RAG 기반 AI 상담 챗봇 — 질의 접수·검색결과 증강 및 생성형 AI 호출  (이어서)</a:t>
            </a:r>
            <a:r>
              <a:rPr sz="700" b="0">
                <a:solidFill>
                  <a:srgbClr val="808690"/>
                </a:solidFill>
                <a:latin typeface="Courier New"/>
              </a:rPr>
              <a:t>   src/main/java/egovframework/sejong/blood/web/BloodController.java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1003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    || geminiUrl == null || geminiUrl.isEmpty()) {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1004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    json.IsSucceed = false;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     (... 중략 ...)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1019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String systemInstruction =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"너는 당뇨/혈당 관리를 돕는 친절한 한국어 건강 도우미야.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"사용자는 연속혈당측정(CGM)을 사용하는 환자야.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"답변은 의학적 진단이 아니라 일반적인 생활관리 참고용이며, 심한 고혈당·저혈당이나 이상 증상은 반드시 담당 의사와 상담하라고 안내해.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"답변은 100자 내외로 짧게, 줄바꿈은 &lt;br&gt; 태그로 표기해.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"혈당 상태에 대한 질문이면 현재 상태 → 그렇게 보는 이유 → 지금 할 행동 순서로 각각 한 문장씩 써.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"번호(①②③)나 머리기호 없이 자연스러운 문장으로만 써.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"아래 참고 정보는 앱이 이미 계산해 화면에 보여준 판정이야. 다시 계산하거나 바꾸지 말고 그대로 근거로 삼아.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"숫자·퍼센트·지표 이름(TIR/TAR/TBR/CV)은 답변에 쓰지 마 — 수치는 사용자 화면 표가 이미 보여주고 있어.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"판정유형별 방향 — 우수: 현재 식사·운동 유지를 격려 / 고혈당형: 식사량·탄수화물 비율 조절과 식후 걷기 /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1029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    + "저혈당형: 공복 운동 회피, 운동 전후 혈당 확인, 식사 거르지 않기 / 변동형: 식사·운동 시간을 일정하게. "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        (... 중략 ...)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1116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genCfg.addProperty("maxOutputTokens", 2048);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1117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thinking(추론) 최소화 — 단순 건강 Q&amp;A 라 깊은 추론이 불필요.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1118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※ gemini-flash-latest 별칭이 Gemini 3 계열(gemini-3.6-flash)로 바뀌면서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1119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  기존 thinkingBudget:0 은 400 INVALID_ARGUMENT 로 거부된다(추론 완전 비활성 불가).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    Gemini 3 부터는 thinkingLevel("low"/"high") 을 사용한다.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JsonObject thinkingCfg = new JsonObject();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thinkingCfg.addProperty("thinkingLevel", "low");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1123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genCfg.add("thinkingConfig", thinkingCfg);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1124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1125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JsonObject reqBody = new JsonObject();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1126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reqBody.add("system_instruction", sysInstr);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1127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reqBody.add("contents", contents);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1128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reqBody.add("generationConfig", genCfg);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1129  </a:t>
            </a:r>
            <a:r>
              <a:rPr sz="750" b="0">
                <a:solidFill>
                  <a:srgbClr val="1A1A1A"/>
                </a:solidFill>
                <a:latin typeface="Courier New"/>
              </a:rPr>
              <a:t/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1130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// API 키는 헤더(x-goog-api-key)로 전달 (URL 쿼리 노출 방지)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1131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URL url = new URL(geminiUrl);</a:t>
            </a:r>
          </a:p>
          <a:p>
            <a:pPr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08690"/>
                </a:solidFill>
                <a:latin typeface="Courier New"/>
              </a:rPr>
              <a:t>1132  </a:t>
            </a:r>
            <a:r>
              <a:rPr sz="750" b="0">
                <a:solidFill>
                  <a:srgbClr val="1A1A1A"/>
                </a:solidFill>
                <a:latin typeface="Courier New"/>
              </a:rPr>
              <a:t>HttpURLConnection conn = (HttpURLConnection) url.openConnection();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998464"/>
            <a:ext cx="99056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850" b="0">
                <a:solidFill>
                  <a:srgbClr val="808690"/>
                </a:solidFill>
                <a:latin typeface="Calibri"/>
              </a:rPr>
              <a:t>※ 각 코드 왼쪽 번호는 해당 파일 내 실제 줄번호이며, 가독성을 위해 발췌 구간의 공통 들여쓰기만 제거하였다. 접속정보·인증키가 포함된 설정 파일은 발췌 대상에서 제외하였다.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808690"/>
                </a:solidFill>
                <a:latin typeface="Calibri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